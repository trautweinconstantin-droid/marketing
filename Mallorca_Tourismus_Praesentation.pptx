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88952" cy="2743200"/>
          </a:xfrm>
          <a:prstGeom prst="rect">
            <a:avLst/>
          </a:prstGeom>
          <a:solidFill>
            <a:srgbClr val="1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760720"/>
            <a:ext cx="12188952" cy="1097280"/>
          </a:xfrm>
          <a:prstGeom prst="rect">
            <a:avLst/>
          </a:prstGeom>
          <a:solidFill>
            <a:srgbClr val="A8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914400" y="-914400"/>
            <a:ext cx="3657600" cy="3657600"/>
          </a:xfrm>
          <a:prstGeom prst="rect">
            <a:avLst/>
          </a:prstGeom>
          <a:solidFill>
            <a:srgbClr val="1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01200" y="5029200"/>
            <a:ext cx="3657600" cy="3657600"/>
          </a:xfrm>
          <a:prstGeom prst="rect">
            <a:avLst/>
          </a:prstGeom>
          <a:solidFill>
            <a:srgbClr val="0A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2880360"/>
            <a:ext cx="3200400" cy="73152"/>
          </a:xfrm>
          <a:prstGeom prst="rect">
            <a:avLst/>
          </a:prstGeom>
          <a:solidFill>
            <a:srgbClr val="E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7315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libri"/>
              </a:rPr>
              <a:t>MALLORCA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0116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A8D8EA"/>
                </a:solidFill>
                <a:latin typeface="Calibri"/>
              </a:rPr>
              <a:t>Tourismus als Raumprägendes Phänomen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017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5E6C8"/>
                </a:solidFill>
                <a:latin typeface="Calibri"/>
              </a:rPr>
              <a:t>Ein geographisches Fallbeispiel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6035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3D6B"/>
                </a:solidFill>
                <a:latin typeface="Calibri"/>
              </a:rPr>
              <a:t>Erdkunde · Klasse ·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27432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FFFFFF"/>
                </a:solidFill>
                <a:latin typeface="Calibri"/>
              </a:rPr>
              <a:t>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164592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0" i="0">
                <a:solidFill>
                  <a:srgbClr val="FFFFFF"/>
                </a:solidFill>
                <a:latin typeface="Calibri"/>
              </a:rPr>
              <a:t>🏖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A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09728" cy="5577840"/>
          </a:xfrm>
          <a:prstGeom prst="rect">
            <a:avLst/>
          </a:prstGeom>
          <a:solidFill>
            <a:srgbClr val="E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263640"/>
            <a:ext cx="12188952" cy="548640"/>
          </a:xfrm>
          <a:prstGeom prst="rect">
            <a:avLst/>
          </a:prstGeom>
          <a:solidFill>
            <a:srgbClr val="1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GLIEDERUNG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640080" cy="502920"/>
          </a:xfrm>
          <a:prstGeom prst="rect">
            <a:avLst/>
          </a:prstGeom>
          <a:solidFill>
            <a:srgbClr val="1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499616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C3E50"/>
                </a:solidFill>
                <a:latin typeface="Calibri"/>
              </a:rPr>
              <a:t>Definition &amp; Geographische Einordnung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212848"/>
            <a:ext cx="640080" cy="502920"/>
          </a:xfrm>
          <a:prstGeom prst="rect">
            <a:avLst/>
          </a:prstGeom>
          <a:solidFill>
            <a:srgbClr val="1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231136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249424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C3E50"/>
                </a:solidFill>
                <a:latin typeface="Calibri"/>
              </a:rPr>
              <a:t>Entwicklung des Tourismus auf Mallorca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962656"/>
            <a:ext cx="640080" cy="502920"/>
          </a:xfrm>
          <a:prstGeom prst="rect">
            <a:avLst/>
          </a:prstGeom>
          <a:solidFill>
            <a:srgbClr val="E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980944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99923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C3E50"/>
                </a:solidFill>
                <a:latin typeface="Calibri"/>
              </a:rPr>
              <a:t>Ursachen &amp; Potenziale des Tourismus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712464"/>
            <a:ext cx="640080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730752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749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C3E50"/>
                </a:solidFill>
                <a:latin typeface="Calibri"/>
              </a:rPr>
              <a:t>Auswirkungen des Tourismus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462272"/>
            <a:ext cx="640080" cy="50292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4480559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49884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C3E50"/>
                </a:solidFill>
                <a:latin typeface="Calibri"/>
              </a:rPr>
              <a:t>Lösungsansätze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212079"/>
            <a:ext cx="640080" cy="5029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5230367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248655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C3E50"/>
                </a:solidFill>
                <a:latin typeface="Calibri"/>
              </a:rPr>
              <a:t>Quellen &amp; Handout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A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4114800" cy="5486400"/>
          </a:xfrm>
          <a:prstGeom prst="rect">
            <a:avLst/>
          </a:prstGeom>
          <a:solidFill>
            <a:srgbClr val="1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09728" cy="5486400"/>
          </a:xfrm>
          <a:prstGeom prst="rect">
            <a:avLst/>
          </a:prstGeom>
          <a:solidFill>
            <a:srgbClr val="E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63640"/>
            <a:ext cx="12188952" cy="548640"/>
          </a:xfrm>
          <a:prstGeom prst="rect">
            <a:avLst/>
          </a:prstGeom>
          <a:solidFill>
            <a:srgbClr val="0A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01 | DEFINITION &amp; GEOGRAPHISCHE EINORDNUNG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5544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E6C8"/>
                </a:solidFill>
                <a:latin typeface="Calibri"/>
              </a:rPr>
              <a:t>Was ist Tourismus?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10312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FFFFFF"/>
                </a:solidFill>
                <a:latin typeface="Calibri"/>
              </a:rPr>
              <a:t>Tourismus bezeichnet das vorübergehende</a:t>
            </a:r>
          </a:p>
          <a:p>
            <a:pPr algn="l"/>
            <a:r>
              <a:rPr sz="1350" b="0">
                <a:solidFill>
                  <a:srgbClr val="FFFFFF"/>
                </a:solidFill>
                <a:latin typeface="Calibri"/>
              </a:rPr>
              <a:t>Verlassen des gewohnten Lebensumfelds zu</a:t>
            </a:r>
          </a:p>
          <a:p>
            <a:pPr algn="l"/>
            <a:r>
              <a:rPr sz="1350" b="0">
                <a:solidFill>
                  <a:srgbClr val="FFFFFF"/>
                </a:solidFill>
                <a:latin typeface="Calibri"/>
              </a:rPr>
              <a:t>Erholungs-, Freizeit- oder Geschäftszwecken</a:t>
            </a:r>
          </a:p>
          <a:p>
            <a:pPr algn="l"/>
            <a:r>
              <a:rPr sz="1350" b="0">
                <a:solidFill>
                  <a:srgbClr val="FFFFFF"/>
                </a:solidFill>
                <a:latin typeface="Calibri"/>
              </a:rPr>
              <a:t>für mindestens eine Übernachtung.</a:t>
            </a:r>
          </a:p>
          <a:p>
            <a:pPr algn="l"/>
            <a:r>
              <a:rPr sz="135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350" b="0">
                <a:solidFill>
                  <a:srgbClr val="FFFFFF"/>
                </a:solidFill>
                <a:latin typeface="Calibri"/>
              </a:rPr>
              <a:t>🔑 UNWTO-Definition:</a:t>
            </a:r>
          </a:p>
          <a:p>
            <a:pPr algn="l"/>
            <a:r>
              <a:rPr sz="1350" b="0">
                <a:solidFill>
                  <a:srgbClr val="FFFFFF"/>
                </a:solidFill>
                <a:latin typeface="Calibri"/>
              </a:rPr>
              <a:t>Reisen zu Orten außerhalb des üblichen</a:t>
            </a:r>
          </a:p>
          <a:p>
            <a:pPr algn="l"/>
            <a:r>
              <a:rPr sz="1350" b="0">
                <a:solidFill>
                  <a:srgbClr val="FFFFFF"/>
                </a:solidFill>
                <a:latin typeface="Calibri"/>
              </a:rPr>
              <a:t>Umfelds für weniger als ein Jahr.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463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A3D6B"/>
                </a:solidFill>
                <a:latin typeface="Calibri"/>
              </a:rPr>
              <a:t>🗺  Geographische Einordnung – Mallorca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2103120"/>
            <a:ext cx="2286000" cy="411480"/>
          </a:xfrm>
          <a:prstGeom prst="rect">
            <a:avLst/>
          </a:prstGeom>
          <a:solidFill>
            <a:srgbClr val="A8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13969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3D6B"/>
                </a:solidFill>
                <a:latin typeface="Calibri"/>
              </a:rPr>
              <a:t>Lage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13969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Westliches Mittelmeer, Balearen-Archipel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2578608"/>
            <a:ext cx="2286000" cy="411480"/>
          </a:xfrm>
          <a:prstGeom prst="rect">
            <a:avLst/>
          </a:prstGeom>
          <a:solidFill>
            <a:srgbClr val="A8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61518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3D6B"/>
                </a:solidFill>
                <a:latin typeface="Calibri"/>
              </a:rPr>
              <a:t>Koordinaten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61518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39°N / 3°O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60" y="3054096"/>
            <a:ext cx="2286000" cy="411480"/>
          </a:xfrm>
          <a:prstGeom prst="rect">
            <a:avLst/>
          </a:prstGeom>
          <a:solidFill>
            <a:srgbClr val="A8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309067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3D6B"/>
                </a:solidFill>
                <a:latin typeface="Calibri"/>
              </a:rPr>
              <a:t>Fläche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09067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3.640 km² (größte Baleareninsel)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0560" y="3529584"/>
            <a:ext cx="2286000" cy="411480"/>
          </a:xfrm>
          <a:prstGeom prst="rect">
            <a:avLst/>
          </a:prstGeom>
          <a:solidFill>
            <a:srgbClr val="A8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356616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3D6B"/>
                </a:solidFill>
                <a:latin typeface="Calibri"/>
              </a:rPr>
              <a:t>Einwohner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5661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ca. 923.000 (2023)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80560" y="4005072"/>
            <a:ext cx="2286000" cy="411480"/>
          </a:xfrm>
          <a:prstGeom prst="rect">
            <a:avLst/>
          </a:prstGeom>
          <a:solidFill>
            <a:srgbClr val="A8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404164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3D6B"/>
                </a:solidFill>
                <a:latin typeface="Calibri"/>
              </a:rPr>
              <a:t>Hauptstadt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404164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Palma de Mallorca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80560" y="4480560"/>
            <a:ext cx="2286000" cy="411480"/>
          </a:xfrm>
          <a:prstGeom prst="rect">
            <a:avLst/>
          </a:prstGeom>
          <a:solidFill>
            <a:srgbClr val="A8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451713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3D6B"/>
                </a:solidFill>
                <a:latin typeface="Calibri"/>
              </a:rPr>
              <a:t>Zugehörigkeit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51713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Spanien, Autonome Gemeinschaft Balearen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80560" y="4956048"/>
            <a:ext cx="2286000" cy="411480"/>
          </a:xfrm>
          <a:prstGeom prst="rect">
            <a:avLst/>
          </a:prstGeom>
          <a:solidFill>
            <a:srgbClr val="A8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0" y="499262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3D6B"/>
                </a:solidFill>
                <a:latin typeface="Calibri"/>
              </a:rPr>
              <a:t>Küstenlinie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499262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ca. 555 km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80560" y="5431536"/>
            <a:ext cx="2286000" cy="411480"/>
          </a:xfrm>
          <a:prstGeom prst="rect">
            <a:avLst/>
          </a:prstGeom>
          <a:solidFill>
            <a:srgbClr val="A8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0" y="546811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3D6B"/>
                </a:solidFill>
                <a:latin typeface="Calibri"/>
              </a:rPr>
              <a:t>Höchster Punkt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546811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Puig Major (1.445 m)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A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09728" cy="5486400"/>
          </a:xfrm>
          <a:prstGeom prst="rect">
            <a:avLst/>
          </a:prstGeom>
          <a:solidFill>
            <a:srgbClr val="E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263640"/>
            <a:ext cx="12188952" cy="548640"/>
          </a:xfrm>
          <a:prstGeom prst="rect">
            <a:avLst/>
          </a:prstGeom>
          <a:solidFill>
            <a:srgbClr val="1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02 | ENTWICKLUNG DES TOURISMUS AUF MALLORCA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8D8EA"/>
                </a:solidFill>
                <a:latin typeface="Calibri"/>
              </a:rPr>
              <a:t>Von den Anfängen bis heute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00200"/>
            <a:ext cx="1280160" cy="548640"/>
          </a:xfrm>
          <a:prstGeom prst="rect">
            <a:avLst/>
          </a:prstGeom>
          <a:solidFill>
            <a:srgbClr val="F5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" y="1673352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C3E50"/>
                </a:solidFill>
                <a:latin typeface="Calibri"/>
              </a:rPr>
              <a:t>1950er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54480" y="1856232"/>
            <a:ext cx="10058400" cy="36576"/>
          </a:xfrm>
          <a:prstGeom prst="rect">
            <a:avLst/>
          </a:prstGeom>
          <a:solidFill>
            <a:srgbClr val="E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91640" y="167335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Erste Touristen · Nur ~100.000 Besucher/Jahr · Kaum Infrastruktur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258568"/>
            <a:ext cx="1280160" cy="548640"/>
          </a:xfrm>
          <a:prstGeom prst="rect">
            <a:avLst/>
          </a:prstGeom>
          <a:solidFill>
            <a:srgbClr val="A8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" y="2331720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C3E50"/>
                </a:solidFill>
                <a:latin typeface="Calibri"/>
              </a:rPr>
              <a:t>1960er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54480" y="2514600"/>
            <a:ext cx="10058400" cy="36576"/>
          </a:xfrm>
          <a:prstGeom prst="rect">
            <a:avLst/>
          </a:prstGeom>
          <a:solidFill>
            <a:srgbClr val="E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91640" y="2331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Massentourismus beginnt · Charter-Flüge · Hotelbau-Boom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916936"/>
            <a:ext cx="1280160" cy="548640"/>
          </a:xfrm>
          <a:prstGeom prst="rect">
            <a:avLst/>
          </a:prstGeom>
          <a:solidFill>
            <a:srgbClr val="1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" y="2990088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1970er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54480" y="3172968"/>
            <a:ext cx="10058400" cy="36576"/>
          </a:xfrm>
          <a:prstGeom prst="rect">
            <a:avLst/>
          </a:prstGeom>
          <a:solidFill>
            <a:srgbClr val="E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91640" y="299008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Flughafen Palma stark ausgebaut · &gt;3 Mio. Besucher/Jahr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575304"/>
            <a:ext cx="1280160" cy="548640"/>
          </a:xfrm>
          <a:prstGeom prst="rect">
            <a:avLst/>
          </a:prstGeom>
          <a:solidFill>
            <a:srgbClr val="1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2608" y="3648456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1980er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54480" y="3831336"/>
            <a:ext cx="10058400" cy="36576"/>
          </a:xfrm>
          <a:prstGeom prst="rect">
            <a:avLst/>
          </a:prstGeom>
          <a:solidFill>
            <a:srgbClr val="E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91640" y="364845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Pauschalreise-Boom · Infrastruktur explodiert · Umweltprobleme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233672"/>
            <a:ext cx="1280160" cy="548640"/>
          </a:xfrm>
          <a:prstGeom prst="rect">
            <a:avLst/>
          </a:prstGeom>
          <a:solidFill>
            <a:srgbClr val="0A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2608" y="4306824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1990er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54480" y="4489704"/>
            <a:ext cx="10058400" cy="36576"/>
          </a:xfrm>
          <a:prstGeom prst="rect">
            <a:avLst/>
          </a:prstGeom>
          <a:solidFill>
            <a:srgbClr val="E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91640" y="430682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Qualitätstourismus angestrebt · EU-Beitritt Spaniens wirkt nach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892040"/>
            <a:ext cx="1280160" cy="548640"/>
          </a:xfrm>
          <a:prstGeom prst="rect">
            <a:avLst/>
          </a:prstGeom>
          <a:solidFill>
            <a:srgbClr val="0A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2608" y="4965192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2000er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554480" y="5148072"/>
            <a:ext cx="10058400" cy="36576"/>
          </a:xfrm>
          <a:prstGeom prst="rect">
            <a:avLst/>
          </a:prstGeom>
          <a:solidFill>
            <a:srgbClr val="E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91640" y="49651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Billigflüge (Ryanair etc.) · &gt;10 Mio. Besucher · Overtourism spürbar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5550408"/>
            <a:ext cx="1280160" cy="5486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2608" y="5623560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2023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554480" y="5806440"/>
            <a:ext cx="10058400" cy="36576"/>
          </a:xfrm>
          <a:prstGeom prst="rect">
            <a:avLst/>
          </a:prstGeom>
          <a:solidFill>
            <a:srgbClr val="E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691640" y="5623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~13,4 Mio. Ankünfte · Flughafen Palma: 31 Mio. Passagiere/Jahr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A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5943600" cy="5486400"/>
          </a:xfrm>
          <a:prstGeom prst="rect">
            <a:avLst/>
          </a:prstGeom>
          <a:solidFill>
            <a:srgbClr val="F5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0" y="1371600"/>
            <a:ext cx="6245352" cy="5486400"/>
          </a:xfrm>
          <a:prstGeom prst="rect">
            <a:avLst/>
          </a:prstGeom>
          <a:solidFill>
            <a:srgbClr val="1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16168" y="1371600"/>
            <a:ext cx="54864" cy="5486400"/>
          </a:xfrm>
          <a:prstGeom prst="rect">
            <a:avLst/>
          </a:prstGeom>
          <a:solidFill>
            <a:srgbClr val="E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263640"/>
            <a:ext cx="12188952" cy="548640"/>
          </a:xfrm>
          <a:prstGeom prst="rect">
            <a:avLst/>
          </a:prstGeom>
          <a:solidFill>
            <a:srgbClr val="0A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02 | MALLORCA DAMALS vs. HEUTE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C3E50"/>
                </a:solidFill>
                <a:latin typeface="Calibri"/>
              </a:rPr>
              <a:t>DAMALS (1960er/70er)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4630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HEUTE (2020er)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1488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🏨  ~200 Hotels (einfach, klein)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148840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🏨  &gt;2.000 Hotels &amp; Ferienwohnungen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688336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✈️  Flughafen: &lt;1 Mio. Passagiere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688336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✈️  Flughafen Palma: ~31 Mio. Passagiere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227832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🛣  Kaum Straßennetz / ÖPNV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227832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🛣  Autobahnnetz, S-Bahn, Touristenbusse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767328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💰  Sehr günstige Preise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767328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💰  Stark gestiegene Preise (Wohnungsnot)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306824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👥  ~100.000–500.000 Besucher/Jahr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4306824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👥  ~13,4 Mio. Besucher/Jahr (2023)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84632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🐟  Hauptwirtschaft: Fischerei &amp; Landwirtschaft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4846320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💼  80 % BIP durch Tourismus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5385816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🌿  Intakte Natur, kaum Bebauung der Küste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5385816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⚠️  Overtourism, Umweltbelastung, Protest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A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09728" cy="5486400"/>
          </a:xfrm>
          <a:prstGeom prst="rect">
            <a:avLst/>
          </a:prstGeom>
          <a:solidFill>
            <a:srgbClr val="E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263640"/>
            <a:ext cx="12188952" cy="548640"/>
          </a:xfrm>
          <a:prstGeom prst="rect">
            <a:avLst/>
          </a:prstGeom>
          <a:solidFill>
            <a:srgbClr val="1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03 | URSACHEN &amp; POTENZIALE DES TOURISMUS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8D8EA"/>
                </a:solidFill>
                <a:latin typeface="Calibri"/>
              </a:rPr>
              <a:t>Warum hat sich Mallorca so touristisch entwickelt?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54480"/>
            <a:ext cx="3657600" cy="4572000"/>
          </a:xfrm>
          <a:prstGeom prst="rect">
            <a:avLst/>
          </a:prstGeom>
          <a:solidFill>
            <a:srgbClr val="0A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64592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9456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NATURRÄUMLICHE
POTENZIALE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971800"/>
            <a:ext cx="310896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06324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• Mediterranes Klima
(300+ Sonnentage)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48456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• Sandstrände (&gt;80)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33672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• Kristallklares Wasser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18888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• Tramuntana-Gebirge
(UNESCO-Welterbe)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404104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• Vielfältige Fauna &amp; Flora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33672" y="1554480"/>
            <a:ext cx="3657600" cy="4572000"/>
          </a:xfrm>
          <a:prstGeom prst="rect">
            <a:avLst/>
          </a:prstGeom>
          <a:solidFill>
            <a:srgbClr val="1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25112" y="164592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5112" y="219456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SOZIOKULTURELLE
POTENZIALE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07992" y="2971800"/>
            <a:ext cx="310896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16552" y="306324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• Spanisch-balearische
Kultur &amp; Geschichte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6552" y="3648456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• Kulinarik &amp; Gastronomie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16552" y="4233672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• Feste &amp; Traditionen
(Fiestas)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4818888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• Relativer Sicherheit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16552" y="5404104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• Gastfreundschaft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93024" y="1554480"/>
            <a:ext cx="3657600" cy="4572000"/>
          </a:xfrm>
          <a:prstGeom prst="rect">
            <a:avLst/>
          </a:prstGeom>
          <a:solidFill>
            <a:srgbClr val="E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84464" y="164592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4464" y="219456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WIRTSCHAFTLICHE
POTENZIALE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67344" y="2971800"/>
            <a:ext cx="310896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75904" y="306324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• Günstige Preise
(bis 1990er)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75904" y="3648456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• Gute Erreichbarkeit
per Flugzeug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75904" y="4233672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• Pauschalreisen
(All-Inclusive)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75904" y="4818888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• EU-Subventionen
für Infrastruktur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75904" y="5404104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• Starke Hotellerie-
Industrie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A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09728" cy="5486400"/>
          </a:xfrm>
          <a:prstGeom prst="rect">
            <a:avLst/>
          </a:prstGeom>
          <a:solidFill>
            <a:srgbClr val="E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263640"/>
            <a:ext cx="12188952" cy="548640"/>
          </a:xfrm>
          <a:prstGeom prst="rect">
            <a:avLst/>
          </a:prstGeom>
          <a:solidFill>
            <a:srgbClr val="1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03 | PREISE IM VERGLEICH – DAMALS vs. HEUTE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D8EA"/>
                </a:solidFill>
                <a:latin typeface="Calibri"/>
              </a:rPr>
              <a:t>Mallorca war für Nordeuropäer extrem günstig – ein zentraler Anziehungsfaktor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54480"/>
            <a:ext cx="2834640" cy="502920"/>
          </a:xfrm>
          <a:prstGeom prst="rect">
            <a:avLst/>
          </a:prstGeom>
          <a:solidFill>
            <a:srgbClr val="0A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581912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Kategorie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554480"/>
            <a:ext cx="2468879" cy="502920"/>
          </a:xfrm>
          <a:prstGeom prst="rect">
            <a:avLst/>
          </a:prstGeom>
          <a:solidFill>
            <a:srgbClr val="0A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1581912"/>
            <a:ext cx="23774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1960er/70er (real)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1554480"/>
            <a:ext cx="2468879" cy="502920"/>
          </a:xfrm>
          <a:prstGeom prst="rect">
            <a:avLst/>
          </a:prstGeom>
          <a:solidFill>
            <a:srgbClr val="0A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59" y="1581912"/>
            <a:ext cx="23774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Heute (2024)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1554480"/>
            <a:ext cx="2468879" cy="502920"/>
          </a:xfrm>
          <a:prstGeom prst="rect">
            <a:avLst/>
          </a:prstGeom>
          <a:solidFill>
            <a:srgbClr val="0A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581912"/>
            <a:ext cx="23774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Veränderung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103120"/>
            <a:ext cx="2834640" cy="59436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130552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  <a:latin typeface="Calibri"/>
              </a:rPr>
              <a:t>Hotelübernachtung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2103120"/>
            <a:ext cx="2468879" cy="59436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0" y="2130552"/>
            <a:ext cx="237743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  <a:latin typeface="Calibri"/>
              </a:rPr>
              <a:t>5–15 DM / Nacht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720" y="2103120"/>
            <a:ext cx="2468879" cy="59436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52159" y="2130552"/>
            <a:ext cx="237743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  <a:latin typeface="Calibri"/>
              </a:rPr>
              <a:t>80–250 €/Nacht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0" y="2103120"/>
            <a:ext cx="2468879" cy="59436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2130552"/>
            <a:ext cx="237743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392B"/>
                </a:solidFill>
                <a:latin typeface="Calibri"/>
              </a:rPr>
              <a:t>▲ ~1.500 %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761487"/>
            <a:ext cx="28346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2788920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  <a:latin typeface="Calibri"/>
              </a:rPr>
              <a:t>Pauschalreise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0" y="2761487"/>
            <a:ext cx="2468879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91840" y="2788920"/>
            <a:ext cx="237743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  <a:latin typeface="Calibri"/>
              </a:rPr>
              <a:t>200–400 DM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60720" y="2761487"/>
            <a:ext cx="2468879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52159" y="2788920"/>
            <a:ext cx="237743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  <a:latin typeface="Calibri"/>
              </a:rPr>
              <a:t>400–1.200 €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21040" y="2761487"/>
            <a:ext cx="2468879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0" y="2788920"/>
            <a:ext cx="237743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392B"/>
                </a:solidFill>
                <a:latin typeface="Calibri"/>
              </a:rPr>
              <a:t>▲ ~400 %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419856"/>
            <a:ext cx="2834640" cy="59436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3447288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  <a:latin typeface="Calibri"/>
              </a:rPr>
              <a:t>Restaurantessen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0" y="3419856"/>
            <a:ext cx="2468879" cy="59436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91840" y="3447288"/>
            <a:ext cx="237743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  <a:latin typeface="Calibri"/>
              </a:rPr>
              <a:t>2–5 DM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60720" y="3419856"/>
            <a:ext cx="2468879" cy="59436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52159" y="3447288"/>
            <a:ext cx="237743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  <a:latin typeface="Calibri"/>
              </a:rPr>
              <a:t>12–35 €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21040" y="3419856"/>
            <a:ext cx="2468879" cy="59436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80" y="3447288"/>
            <a:ext cx="237743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392B"/>
                </a:solidFill>
                <a:latin typeface="Calibri"/>
              </a:rPr>
              <a:t>▲ ~600 %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4078224"/>
            <a:ext cx="28346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4105656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  <a:latin typeface="Calibri"/>
              </a:rPr>
              <a:t>Wohnungsmiete (lokal)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0" y="4078224"/>
            <a:ext cx="2468879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91840" y="4105656"/>
            <a:ext cx="237743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  <a:latin typeface="Calibri"/>
              </a:rPr>
              <a:t>50–150 DM/Monat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760720" y="4078224"/>
            <a:ext cx="2468879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852159" y="4105656"/>
            <a:ext cx="237743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  <a:latin typeface="Calibri"/>
              </a:rPr>
              <a:t>1.000–2.500 €/Monat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321040" y="4078224"/>
            <a:ext cx="2468879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12480" y="4105656"/>
            <a:ext cx="237743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392B"/>
                </a:solidFill>
                <a:latin typeface="Calibri"/>
              </a:rPr>
              <a:t>▲ Extreme Steigerung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4736592"/>
            <a:ext cx="2834640" cy="59436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" y="4764024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  <a:latin typeface="Calibri"/>
              </a:rPr>
              <a:t>Flugticket (DE→PMI)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0" y="4736592"/>
            <a:ext cx="2468879" cy="59436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91840" y="4764024"/>
            <a:ext cx="237743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  <a:latin typeface="Calibri"/>
              </a:rPr>
              <a:t>300–600 DM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760720" y="4736592"/>
            <a:ext cx="2468879" cy="59436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852159" y="4764024"/>
            <a:ext cx="237743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  <a:latin typeface="Calibri"/>
              </a:rPr>
              <a:t>30–250 € (Billigflug)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321040" y="4736592"/>
            <a:ext cx="2468879" cy="59436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12480" y="4764024"/>
            <a:ext cx="237743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E7D4F"/>
                </a:solidFill>
                <a:latin typeface="Calibri"/>
              </a:rPr>
              <a:t>▼ Deutlich günstiger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5394959"/>
            <a:ext cx="28346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5760" y="5422392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  <a:latin typeface="Calibri"/>
              </a:rPr>
              <a:t>Bier (lokal)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0" y="5394959"/>
            <a:ext cx="2468879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291840" y="5422392"/>
            <a:ext cx="237743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  <a:latin typeface="Calibri"/>
              </a:rPr>
              <a:t>0,50 DM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760720" y="5394959"/>
            <a:ext cx="2468879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852159" y="5422392"/>
            <a:ext cx="237743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  <a:latin typeface="Calibri"/>
              </a:rPr>
              <a:t>3–6 €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321040" y="5394959"/>
            <a:ext cx="2468879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412480" y="5422392"/>
            <a:ext cx="237743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392B"/>
                </a:solidFill>
                <a:latin typeface="Calibri"/>
              </a:rPr>
              <a:t>▲ ~800 %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74320" y="608076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💡 Hinweis: Während Übernachtungen &amp; Mieten explodiert sind, wurden Flüge durch Billiganbieter günstiger → mehr Touristen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09728" cy="5486400"/>
          </a:xfrm>
          <a:prstGeom prst="rect">
            <a:avLst/>
          </a:prstGeom>
          <a:solidFill>
            <a:srgbClr val="E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263640"/>
            <a:ext cx="12188952" cy="5486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04 | AUSWIRKUNGEN DES TOURISMUS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E6C8"/>
                </a:solidFill>
                <a:latin typeface="Calibri"/>
              </a:rPr>
              <a:t>Aus den Potenzialen entstehen massive Folgeprobleme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54480"/>
            <a:ext cx="3657600" cy="59436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581912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🌿 NATURRÄUMLICH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212848"/>
            <a:ext cx="34747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212848"/>
            <a:ext cx="73152" cy="68580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267712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Wasserknappheit
(Grundwasser überbeansprucht)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980944"/>
            <a:ext cx="34747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980944"/>
            <a:ext cx="73152" cy="68580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35808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Meeresverschmutzung
(Müll, Abwässer)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749039"/>
            <a:ext cx="34747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749039"/>
            <a:ext cx="73152" cy="68580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803903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Abholzung &amp; Flächenversiegelung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517136"/>
            <a:ext cx="34747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4517136"/>
            <a:ext cx="73152" cy="68580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571999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Lärm- &amp; Lichtverschmutzung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285231"/>
            <a:ext cx="34747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5285231"/>
            <a:ext cx="73152" cy="68580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340095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Schädigung von
Posidonia-Seegräsern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33672" y="1554480"/>
            <a:ext cx="3657600" cy="594360"/>
          </a:xfrm>
          <a:prstGeom prst="rect">
            <a:avLst/>
          </a:prstGeom>
          <a:solidFill>
            <a:srgbClr val="1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25112" y="1581912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💼 WIRTSCHAFTLICH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25112" y="2212848"/>
            <a:ext cx="34747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25112" y="2212848"/>
            <a:ext cx="73152" cy="685800"/>
          </a:xfrm>
          <a:prstGeom prst="rect">
            <a:avLst/>
          </a:prstGeom>
          <a:solidFill>
            <a:srgbClr val="1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07992" y="2267712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Monostruktur (80 % BIP
durch Tourismus)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25112" y="2980944"/>
            <a:ext cx="34747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25112" y="2980944"/>
            <a:ext cx="73152" cy="685800"/>
          </a:xfrm>
          <a:prstGeom prst="rect">
            <a:avLst/>
          </a:prstGeom>
          <a:solidFill>
            <a:srgbClr val="1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07992" y="3035808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Abhängigkeit von
Saisongeschäft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25112" y="3749039"/>
            <a:ext cx="34747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25112" y="3749039"/>
            <a:ext cx="73152" cy="685800"/>
          </a:xfrm>
          <a:prstGeom prst="rect">
            <a:avLst/>
          </a:prstGeom>
          <a:solidFill>
            <a:srgbClr val="1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07992" y="3803903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Immobilienpreise
explodieren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25112" y="4517136"/>
            <a:ext cx="34747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25112" y="4517136"/>
            <a:ext cx="73152" cy="685800"/>
          </a:xfrm>
          <a:prstGeom prst="rect">
            <a:avLst/>
          </a:prstGeom>
          <a:solidFill>
            <a:srgbClr val="1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07992" y="4571999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Verdrängen lokaler
Betriebe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25112" y="5285231"/>
            <a:ext cx="34747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25112" y="5285231"/>
            <a:ext cx="73152" cy="685800"/>
          </a:xfrm>
          <a:prstGeom prst="rect">
            <a:avLst/>
          </a:prstGeom>
          <a:solidFill>
            <a:srgbClr val="1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07992" y="5340095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Kapitalabfluss zu
internat. Konzernen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93024" y="1554480"/>
            <a:ext cx="3657600" cy="594360"/>
          </a:xfrm>
          <a:prstGeom prst="rect">
            <a:avLst/>
          </a:prstGeom>
          <a:solidFill>
            <a:srgbClr val="E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84464" y="1581912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👥 SOZIAL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84464" y="2212848"/>
            <a:ext cx="34747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284464" y="2212848"/>
            <a:ext cx="73152" cy="685800"/>
          </a:xfrm>
          <a:prstGeom prst="rect">
            <a:avLst/>
          </a:prstGeom>
          <a:solidFill>
            <a:srgbClr val="E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67344" y="2267712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Verdrängung der
Bevölkerung (Gentrifizierung)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84464" y="2980944"/>
            <a:ext cx="34747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284464" y="2980944"/>
            <a:ext cx="73152" cy="685800"/>
          </a:xfrm>
          <a:prstGeom prst="rect">
            <a:avLst/>
          </a:prstGeom>
          <a:solidFill>
            <a:srgbClr val="E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67344" y="3035808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Verlust von Traditionen
&amp; Sprache (Mallorquín)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84464" y="3749039"/>
            <a:ext cx="34747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284464" y="3749039"/>
            <a:ext cx="73152" cy="685800"/>
          </a:xfrm>
          <a:prstGeom prst="rect">
            <a:avLst/>
          </a:prstGeom>
          <a:solidFill>
            <a:srgbClr val="E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67344" y="3803903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Überlastung lokaler
Infrastruktur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84464" y="4517136"/>
            <a:ext cx="34747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284464" y="4517136"/>
            <a:ext cx="73152" cy="685800"/>
          </a:xfrm>
          <a:prstGeom prst="rect">
            <a:avLst/>
          </a:prstGeom>
          <a:solidFill>
            <a:srgbClr val="E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67344" y="4571999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Protests der
Einheimischen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84464" y="5285231"/>
            <a:ext cx="34747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284464" y="5285231"/>
            <a:ext cx="73152" cy="685800"/>
          </a:xfrm>
          <a:prstGeom prst="rect">
            <a:avLst/>
          </a:prstGeom>
          <a:solidFill>
            <a:srgbClr val="E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67344" y="5340095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Saisonale Arbeits-
losigkeit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09728" cy="5486400"/>
          </a:xfrm>
          <a:prstGeom prst="rect">
            <a:avLst/>
          </a:prstGeom>
          <a:solidFill>
            <a:srgbClr val="E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263640"/>
            <a:ext cx="12188952" cy="54864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04a | NATURRÄUMLICHE AUSWIRKUNGEN – WASSER &amp; MÜLL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63040"/>
            <a:ext cx="5486400" cy="2468880"/>
          </a:xfrm>
          <a:prstGeom prst="rect">
            <a:avLst/>
          </a:prstGeom>
          <a:solidFill>
            <a:srgbClr val="A8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A3D6B"/>
                </a:solidFill>
                <a:latin typeface="Calibri"/>
              </a:rPr>
              <a:t>💧 WASSERPROBLEMATIK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0574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▸ Mallorca ist eine wasserarme Insel (Mittelmeerklima)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42316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▸ Pro Tourist: ~300 L Wasserverbrauch/Tag (5× lokaler Bedarf)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7889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▸ Grundwasser wird massiv überpumpt → Salzwasserintrusion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1546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▸ Entsalzungsanlagen decken ~40 % des Bedarfs (energieintensiv)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5204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▸ In Hochsaison: lokale Wasserknappheit für Bevölkerung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023360"/>
            <a:ext cx="5486400" cy="2103120"/>
          </a:xfrm>
          <a:prstGeom prst="rect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06908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8A2E"/>
                </a:solidFill>
                <a:latin typeface="Calibri"/>
              </a:rPr>
              <a:t>🗑 ABFALL &amp; ABHOLZUNG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57200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▸ Müllaufkommen steigt in Hochsaison um 300–400 %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919472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▸ Strandbereiche täglich durch Maschinen gereinigt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266944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▸ Abwässer belasten Posidonia-Seegraswiesen (Ökosystem!)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614416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▸ Küstenentwicklung: Verlust von Dünen &amp; Naturgebiet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961888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▸ Pinien-Wälder durch Bebauung stark reduziert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1463040"/>
            <a:ext cx="5852160" cy="4663440"/>
          </a:xfrm>
          <a:prstGeom prst="rect">
            <a:avLst/>
          </a:prstGeom>
          <a:solidFill>
            <a:srgbClr val="0A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150876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E6C8"/>
                </a:solidFill>
                <a:latin typeface="Calibri"/>
              </a:rPr>
              <a:t>📊 ZAHLEN &amp; FAKTEN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2103120"/>
            <a:ext cx="5577840" cy="512064"/>
          </a:xfrm>
          <a:prstGeom prst="rect">
            <a:avLst/>
          </a:prstGeom>
          <a:solidFill>
            <a:srgbClr val="1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0" y="2139696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88A2E"/>
                </a:solidFill>
                <a:latin typeface="Calibri"/>
              </a:rPr>
              <a:t>13,4 Mio.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217627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Touristen pro Jahr (2023)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2679191"/>
            <a:ext cx="5577840" cy="512064"/>
          </a:xfrm>
          <a:prstGeom prst="rect">
            <a:avLst/>
          </a:prstGeom>
          <a:solidFill>
            <a:srgbClr val="1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2715768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88A2E"/>
                </a:solidFill>
                <a:latin typeface="Calibri"/>
              </a:rPr>
              <a:t>1,2 Mio.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2752344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Einwohner (+ Saisonarbeiter)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3255263"/>
            <a:ext cx="5577840" cy="512064"/>
          </a:xfrm>
          <a:prstGeom prst="rect">
            <a:avLst/>
          </a:prstGeom>
          <a:solidFill>
            <a:srgbClr val="1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2200" y="3291839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88A2E"/>
                </a:solidFill>
                <a:latin typeface="Calibri"/>
              </a:rPr>
              <a:t>3.640 km²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3328415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Fläche Mallorcas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3831335"/>
            <a:ext cx="5577840" cy="512064"/>
          </a:xfrm>
          <a:prstGeom prst="rect">
            <a:avLst/>
          </a:prstGeom>
          <a:solidFill>
            <a:srgbClr val="1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72200" y="3867911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88A2E"/>
                </a:solidFill>
                <a:latin typeface="Calibri"/>
              </a:rPr>
              <a:t>&gt;3.600 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3904487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Müll täglich in Hochsaison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4407408"/>
            <a:ext cx="5577840" cy="512064"/>
          </a:xfrm>
          <a:prstGeom prst="rect">
            <a:avLst/>
          </a:prstGeom>
          <a:solidFill>
            <a:srgbClr val="1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72200" y="4443984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88A2E"/>
                </a:solidFill>
                <a:latin typeface="Calibri"/>
              </a:rPr>
              <a:t>40 %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0" y="44805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Küste verbaut/erschlossen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26480" y="4983479"/>
            <a:ext cx="5577840" cy="512064"/>
          </a:xfrm>
          <a:prstGeom prst="rect">
            <a:avLst/>
          </a:prstGeom>
          <a:solidFill>
            <a:srgbClr val="1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72200" y="5020055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88A2E"/>
                </a:solidFill>
                <a:latin typeface="Calibri"/>
              </a:rPr>
              <a:t>300 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0" y="5056631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Wasserverbrauch/Tourist/Tag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26480" y="5559552"/>
            <a:ext cx="5577840" cy="512064"/>
          </a:xfrm>
          <a:prstGeom prst="rect">
            <a:avLst/>
          </a:prstGeom>
          <a:solidFill>
            <a:srgbClr val="1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72200" y="5596128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88A2E"/>
                </a:solidFill>
                <a:latin typeface="Calibri"/>
              </a:rPr>
              <a:t>90 %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80960" y="5632704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Strandparkplätze belegt
im Sommer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09728" cy="5486400"/>
          </a:xfrm>
          <a:prstGeom prst="rect">
            <a:avLst/>
          </a:prstGeom>
          <a:solidFill>
            <a:srgbClr val="E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263640"/>
            <a:ext cx="12188952" cy="548640"/>
          </a:xfrm>
          <a:prstGeom prst="rect">
            <a:avLst/>
          </a:prstGeom>
          <a:solidFill>
            <a:srgbClr val="1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04b | WIRTSCHAFTLICHE AUSWIRKUNGEN – MONOSTRUKTUR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63040"/>
            <a:ext cx="73152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463040"/>
            <a:ext cx="91440" cy="10972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  <a:latin typeface="Calibri"/>
              </a:rPr>
              <a:t>⚠️  Was ist Monostruktur?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20240"/>
            <a:ext cx="6949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Wenn eine Wirtschaft fast vollständig von einem einzigen Sektor (hier: Tourismus) abhängt, entsteht eine extrem verletzliche Monostruktur.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697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3D6B"/>
                </a:solidFill>
                <a:latin typeface="Calibri"/>
              </a:rPr>
              <a:t>BIP-Anteil der Wirtschaftssektoren auf Mallorca: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108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Tourismus &amp; Dienstleistungen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0" y="3182112"/>
            <a:ext cx="5486400" cy="320040"/>
          </a:xfrm>
          <a:prstGeom prst="rect">
            <a:avLst/>
          </a:prstGeom>
          <a:solidFill>
            <a:srgbClr val="1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318211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  <a:latin typeface="Calibri"/>
              </a:rPr>
              <a:t>80 %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63931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Handel &amp; Logistik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0" y="3712463"/>
            <a:ext cx="617219" cy="320040"/>
          </a:xfrm>
          <a:prstGeom prst="rect">
            <a:avLst/>
          </a:prstGeom>
          <a:solidFill>
            <a:srgbClr val="0A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17620" y="3712463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  <a:latin typeface="Calibri"/>
              </a:rPr>
              <a:t>9 %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169663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Bauwirtschaft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08960" y="4242816"/>
            <a:ext cx="342900" cy="320040"/>
          </a:xfrm>
          <a:prstGeom prst="rect">
            <a:avLst/>
          </a:prstGeom>
          <a:solidFill>
            <a:srgbClr val="E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43300" y="4242816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  <a:latin typeface="Calibri"/>
              </a:rPr>
              <a:t>5 %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4700016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Landwirtschaft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08960" y="4773168"/>
            <a:ext cx="205739" cy="32004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06140" y="477316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  <a:latin typeface="Calibri"/>
              </a:rPr>
              <a:t>3 %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523036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Industrie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08960" y="5303520"/>
            <a:ext cx="205739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06140" y="5303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  <a:latin typeface="Calibri"/>
              </a:rPr>
              <a:t>3 %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21040" y="1463040"/>
            <a:ext cx="3566160" cy="46634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15087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KONSEQUENZEN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201168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COVID-19 (2020): Tourismuseinbruch
→ 80 % Wirtschaftsverlust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2670048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Immobilienspekulation:
Einheimische verdrängt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3328416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Saisonale Arbeitslosigkeit
im Winter (20–30 %)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3986784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Kaum alternative Branchen
bei Krisenzeiten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4645152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Internationale Konzerne
schöpfen Gewinne ab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530352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Forderung: Touristen
'loswerden' → diversifizieren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E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09728" cy="5486400"/>
          </a:xfrm>
          <a:prstGeom prst="rect">
            <a:avLst/>
          </a:prstGeom>
          <a:solidFill>
            <a:srgbClr val="1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263640"/>
            <a:ext cx="12188952" cy="548640"/>
          </a:xfrm>
          <a:prstGeom prst="rect">
            <a:avLst/>
          </a:prstGeom>
          <a:solidFill>
            <a:srgbClr val="E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04c | SOZIALE AUSWIRKUNGEN – SPRACHE &amp; TRADITIONEN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63040"/>
            <a:ext cx="5394960" cy="32004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0876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A3D6B"/>
                </a:solidFill>
                <a:latin typeface="Calibri"/>
              </a:rPr>
              <a:t>🗣 SPRACHE IN GEFAHR: MALLORQUÍN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0574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▸ Mallorquín = balearischer Dialekt des Katalanischen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40487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▸ Offizielle Sprachen: Spanisch &amp; Katalanisch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752344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▸ Durch Massentourismus: Englisch &amp; Deutsch dominant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99816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▸ Jüngere Generation wechselt zu Spanisch/Englisch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44728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▸ Gastronomie, Werbung, Schilder: mehrheitlich Spanisch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7947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▸ Risiko: Sprach- und Identitätsverlust der Mallorquiner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14223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▸ Gegenmaßnahme: Sprachgesetze der Balearenregierung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754880"/>
            <a:ext cx="5394960" cy="141732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8006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8A2E"/>
                </a:solidFill>
                <a:latin typeface="Calibri"/>
              </a:rPr>
              <a:t>🎭 TRADITIONEN UNTER DRUCK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25780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Authentische Feste folklorisiert · Lokale Märkte durch Souvenir-Shops ersetzt ·
Traditionelle Berufe (Fischer, Olivenbauern) nicht mehr rentabel · Kultur als 'Tourismusprodukt'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1463040"/>
            <a:ext cx="5943600" cy="4709160"/>
          </a:xfrm>
          <a:prstGeom prst="rect">
            <a:avLst/>
          </a:prstGeom>
          <a:solidFill>
            <a:srgbClr val="0A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0" y="1508760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😡 PROTEST DER BEVÖLKERUNG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2057400"/>
            <a:ext cx="5577840" cy="45720"/>
          </a:xfrm>
          <a:prstGeom prst="rect">
            <a:avLst/>
          </a:prstGeom>
          <a:solidFill>
            <a:srgbClr val="E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2194560"/>
            <a:ext cx="914400" cy="8229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44768" y="2331720"/>
            <a:ext cx="8778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2024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2231136"/>
            <a:ext cx="45720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Großdemo Palma:
~50.000 Teilnehmer
'Mallorca kein Ausverkauf!'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3218688"/>
            <a:ext cx="914400" cy="8229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44768" y="3355848"/>
            <a:ext cx="8778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2023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3255264"/>
            <a:ext cx="45720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Proteste gegen Airbnb:
Mietpreise für Locals
unbezahlbar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4242816"/>
            <a:ext cx="914400" cy="8229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44768" y="4379976"/>
            <a:ext cx="8778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Dauer.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4279392"/>
            <a:ext cx="45720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Aufkleber &amp; Graffiti:
'Tourists go home'
&amp; 'Touristenschrott'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5266944"/>
            <a:ext cx="914400" cy="8229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44768" y="5404104"/>
            <a:ext cx="8778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2022+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5303520"/>
            <a:ext cx="45720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Forderungen nach
Tourismusobergrenze
&amp; Einreisesteuern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09728" cy="5486400"/>
          </a:xfrm>
          <a:prstGeom prst="rect">
            <a:avLst/>
          </a:prstGeom>
          <a:solidFill>
            <a:srgbClr val="E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263640"/>
            <a:ext cx="12188952" cy="54864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05 | LÖSUNGSANSÄTZE – NACHHALTIGER TOURISMUS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E6C8"/>
                </a:solidFill>
                <a:latin typeface="Calibri"/>
              </a:rPr>
              <a:t>Wie können die Auswirkungen eingedämmt werden?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554480"/>
            <a:ext cx="2834640" cy="731520"/>
          </a:xfrm>
          <a:prstGeom prst="rect">
            <a:avLst/>
          </a:prstGeom>
          <a:solidFill>
            <a:srgbClr val="0A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572768"/>
            <a:ext cx="265176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💶 MALLORCA-STEUER
(Tourismussteuer)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331720"/>
            <a:ext cx="27432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2331720"/>
            <a:ext cx="64008" cy="685800"/>
          </a:xfrm>
          <a:prstGeom prst="rect">
            <a:avLst/>
          </a:prstGeom>
          <a:solidFill>
            <a:srgbClr val="0A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386584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Eingeführt 2016, angehoben 2024
(bis 4 €/Nacht)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081527"/>
            <a:ext cx="27432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3081527"/>
            <a:ext cx="64008" cy="685800"/>
          </a:xfrm>
          <a:prstGeom prst="rect">
            <a:avLst/>
          </a:prstGeom>
          <a:solidFill>
            <a:srgbClr val="0A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136391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Einnahmen für Umweltschutz
&amp; Infrastruktur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831335"/>
            <a:ext cx="27432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3831335"/>
            <a:ext cx="64008" cy="685800"/>
          </a:xfrm>
          <a:prstGeom prst="rect">
            <a:avLst/>
          </a:prstGeom>
          <a:solidFill>
            <a:srgbClr val="0A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886199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Abschreckung von Billigtourismus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581144"/>
            <a:ext cx="27432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4581144"/>
            <a:ext cx="64008" cy="685800"/>
          </a:xfrm>
          <a:prstGeom prst="rect">
            <a:avLst/>
          </a:prstGeom>
          <a:solidFill>
            <a:srgbClr val="0A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4636007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Ziel: Qualität statt Quantität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5330952"/>
            <a:ext cx="27432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5330952"/>
            <a:ext cx="64008" cy="685800"/>
          </a:xfrm>
          <a:prstGeom prst="rect">
            <a:avLst/>
          </a:prstGeom>
          <a:solidFill>
            <a:srgbClr val="0A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5385816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Kritik: zu niedrig, wird kaum
kontrolliert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18688" y="1554480"/>
            <a:ext cx="2834640" cy="731520"/>
          </a:xfrm>
          <a:prstGeom prst="rect">
            <a:avLst/>
          </a:prstGeom>
          <a:solidFill>
            <a:srgbClr val="1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10128" y="1572768"/>
            <a:ext cx="265176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🏖 BESUCHERMANAGEMENT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64408" y="2331720"/>
            <a:ext cx="27432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64408" y="2331720"/>
            <a:ext cx="64008" cy="685800"/>
          </a:xfrm>
          <a:prstGeom prst="rect">
            <a:avLst/>
          </a:prstGeom>
          <a:solidFill>
            <a:srgbClr val="1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01568" y="2386584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Reservierungspflicht für
Populärstrände (Sa Calobra etc.)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64408" y="3081527"/>
            <a:ext cx="27432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64408" y="3081527"/>
            <a:ext cx="64008" cy="685800"/>
          </a:xfrm>
          <a:prstGeom prst="rect">
            <a:avLst/>
          </a:prstGeom>
          <a:solidFill>
            <a:srgbClr val="1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01568" y="3136391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Ticketsystem für Naturparks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64408" y="3831335"/>
            <a:ext cx="27432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64408" y="3831335"/>
            <a:ext cx="64008" cy="685800"/>
          </a:xfrm>
          <a:prstGeom prst="rect">
            <a:avLst/>
          </a:prstGeom>
          <a:solidFill>
            <a:srgbClr val="1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01568" y="3886199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Maximale Besucherzahlen
(Cala Mondragó etc.)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64408" y="4581144"/>
            <a:ext cx="27432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64408" y="4581144"/>
            <a:ext cx="64008" cy="685800"/>
          </a:xfrm>
          <a:prstGeom prst="rect">
            <a:avLst/>
          </a:prstGeom>
          <a:solidFill>
            <a:srgbClr val="1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01568" y="4636007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Ausweisungssystem
für Überbuchung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08776" y="1554480"/>
            <a:ext cx="2834640" cy="731520"/>
          </a:xfrm>
          <a:prstGeom prst="rect">
            <a:avLst/>
          </a:prstGeom>
          <a:solidFill>
            <a:srgbClr val="E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0216" y="1572768"/>
            <a:ext cx="265176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🏘 STRUKTURWANDEL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54496" y="2331720"/>
            <a:ext cx="27432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54496" y="2331720"/>
            <a:ext cx="64008" cy="685800"/>
          </a:xfrm>
          <a:prstGeom prst="rect">
            <a:avLst/>
          </a:prstGeom>
          <a:solidFill>
            <a:srgbClr val="E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91656" y="2386584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Wirtschaftliche Diversifikation
(Tech, Forschung, Landwirtschaft)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54496" y="3081527"/>
            <a:ext cx="27432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54496" y="3081527"/>
            <a:ext cx="64008" cy="685800"/>
          </a:xfrm>
          <a:prstGeom prst="rect">
            <a:avLst/>
          </a:prstGeom>
          <a:solidFill>
            <a:srgbClr val="E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91656" y="3136391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Ferienwohnungs-
Obergrenze (Airbnb-Verbot)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54496" y="3831335"/>
            <a:ext cx="27432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54496" y="3831335"/>
            <a:ext cx="64008" cy="685800"/>
          </a:xfrm>
          <a:prstGeom prst="rect">
            <a:avLst/>
          </a:prstGeom>
          <a:solidFill>
            <a:srgbClr val="E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91656" y="3886199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Sozialer Wohnungsbau
für Einheimische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54496" y="4581144"/>
            <a:ext cx="27432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254496" y="4581144"/>
            <a:ext cx="64008" cy="685800"/>
          </a:xfrm>
          <a:prstGeom prst="rect">
            <a:avLst/>
          </a:prstGeom>
          <a:solidFill>
            <a:srgbClr val="E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91656" y="4636007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Förderung lokaler
Unternehmen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98864" y="1554480"/>
            <a:ext cx="2834640" cy="73152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290304" y="1572768"/>
            <a:ext cx="265176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🌿 ÖKOTOURISMUS
&amp; BILDUNG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244584" y="2331720"/>
            <a:ext cx="27432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244584" y="2331720"/>
            <a:ext cx="64008" cy="68580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81744" y="2386584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Wandertourismus &amp;
nachhaltige Angebote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244584" y="3081527"/>
            <a:ext cx="27432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244584" y="3081527"/>
            <a:ext cx="64008" cy="68580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381744" y="3136391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Klimafreundliche Mobilität
(E-Bikes, ÖPNV stärken)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244584" y="3831335"/>
            <a:ext cx="27432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244584" y="3831335"/>
            <a:ext cx="64008" cy="68580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381744" y="3886199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Umweltbildung für Touristen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244584" y="4581144"/>
            <a:ext cx="27432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244584" y="4581144"/>
            <a:ext cx="64008" cy="68580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381744" y="4636007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Zertifikate für
nachhaltige Hotels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A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09728" cy="5486400"/>
          </a:xfrm>
          <a:prstGeom prst="rect">
            <a:avLst/>
          </a:prstGeom>
          <a:solidFill>
            <a:srgbClr val="E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263640"/>
            <a:ext cx="12188952" cy="548640"/>
          </a:xfrm>
          <a:prstGeom prst="rect">
            <a:avLst/>
          </a:prstGeom>
          <a:solidFill>
            <a:srgbClr val="0A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HANDOUT – MALLORCA ALS TOURISTISCHES FALLBEISPIEL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4124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D8EA"/>
                </a:solidFill>
                <a:latin typeface="Calibri"/>
              </a:rPr>
              <a:t>Zusammenfassung der wichtigsten Inhalte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508760"/>
            <a:ext cx="5760720" cy="141732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508760"/>
            <a:ext cx="1463040" cy="411480"/>
          </a:xfrm>
          <a:prstGeom prst="rect">
            <a:avLst/>
          </a:prstGeom>
          <a:solidFill>
            <a:srgbClr val="1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54533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DEFINITION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965960"/>
            <a:ext cx="5577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3E50"/>
                </a:solidFill>
                <a:latin typeface="Calibri"/>
              </a:rPr>
              <a:t>Tourismus = vorübergehendes Verlassen des Heimatorts für ≥1 Nacht (UNWTO). Unterschied: Ausflügler vs. Tourist.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508760"/>
            <a:ext cx="5760720" cy="141732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508760"/>
            <a:ext cx="1463040" cy="411480"/>
          </a:xfrm>
          <a:prstGeom prst="rect">
            <a:avLst/>
          </a:prstGeom>
          <a:solidFill>
            <a:srgbClr val="0A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54533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GEOGRAPHIE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1965960"/>
            <a:ext cx="5577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3E50"/>
                </a:solidFill>
                <a:latin typeface="Calibri"/>
              </a:rPr>
              <a:t>Mallorca: 3.640 km², Westliches Mittelmeer, Balearen. ~923.000 Einwohner, 13,4 Mio. Touristen/Jahr.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3044952"/>
            <a:ext cx="5760720" cy="141732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3044952"/>
            <a:ext cx="1463040" cy="411480"/>
          </a:xfrm>
          <a:prstGeom prst="rect">
            <a:avLst/>
          </a:prstGeom>
          <a:solidFill>
            <a:srgbClr val="1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08152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ENTWICKLUNG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3502152"/>
            <a:ext cx="5577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3E50"/>
                </a:solidFill>
                <a:latin typeface="Calibri"/>
              </a:rPr>
              <a:t>1950er: &lt;100.000 Besucher → 1970er: Massentourismus → Heute: 31 Mio. Passagiere Flughafen Palma, &gt;2.000 Hotels.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044952"/>
            <a:ext cx="5760720" cy="141732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044952"/>
            <a:ext cx="1463040" cy="411480"/>
          </a:xfrm>
          <a:prstGeom prst="rect">
            <a:avLst/>
          </a:prstGeom>
          <a:solidFill>
            <a:srgbClr val="0A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308152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POTENZIALE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59" y="3502152"/>
            <a:ext cx="5577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3E50"/>
                </a:solidFill>
                <a:latin typeface="Calibri"/>
              </a:rPr>
              <a:t>Naturräumlich: Klima, Strände, Gebirge. Soziokulturell: Kultur, Gastronomie. Wirtschaftlich: früher günstige Preise, Pauschalreisen.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4581144"/>
            <a:ext cx="5760720" cy="141732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4581144"/>
            <a:ext cx="1463040" cy="41148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461772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AUSWIRKUNGEN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5038344"/>
            <a:ext cx="5577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3E50"/>
                </a:solidFill>
                <a:latin typeface="Calibri"/>
              </a:rPr>
              <a:t>Natur: Wasserknappheit, Müll, Abholzung. Wirtschaft: Monostruktur, Gentrifizierung. Sozial: Sprachverlust, Proteste, Verdrängung.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4581144"/>
            <a:ext cx="5760720" cy="141732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4581144"/>
            <a:ext cx="1463040" cy="411480"/>
          </a:xfrm>
          <a:prstGeom prst="rect">
            <a:avLst/>
          </a:prstGeom>
          <a:solidFill>
            <a:srgbClr val="E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3640" y="461772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LÖSUNGEN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59" y="5038344"/>
            <a:ext cx="5577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3E50"/>
                </a:solidFill>
                <a:latin typeface="Calibri"/>
              </a:rPr>
              <a:t>Mallorca-Steuer (bis 4 €/Nacht), Besucherobergrenzen, Airbnb-Verbote, Wirtschaftsdiversifikation, Ökotourismus.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A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09728" cy="5486400"/>
          </a:xfrm>
          <a:prstGeom prst="rect">
            <a:avLst/>
          </a:prstGeom>
          <a:solidFill>
            <a:srgbClr val="E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263640"/>
            <a:ext cx="12188952" cy="548640"/>
          </a:xfrm>
          <a:prstGeom prst="rect">
            <a:avLst/>
          </a:prstGeom>
          <a:solidFill>
            <a:srgbClr val="1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QUELLEN &amp; LITERATURVERZEICHNIS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54480"/>
            <a:ext cx="365760" cy="347472"/>
          </a:xfrm>
          <a:prstGeom prst="rect">
            <a:avLst/>
          </a:prstGeom>
          <a:solidFill>
            <a:srgbClr val="1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581912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81912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F0F1"/>
                </a:solidFill>
                <a:latin typeface="Calibri"/>
              </a:rPr>
              <a:t>UNWTO (World Tourism Organization): www.unwto.org – Definition und Statistiken zum internationalen Tourismus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011680"/>
            <a:ext cx="365760" cy="347472"/>
          </a:xfrm>
          <a:prstGeom prst="rect">
            <a:avLst/>
          </a:prstGeom>
          <a:solidFill>
            <a:srgbClr val="1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039112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039112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F0F1"/>
                </a:solidFill>
                <a:latin typeface="Calibri"/>
              </a:rPr>
              <a:t>Statistisches Amt der Balearen (IBESTAT): www.ibestat.cat – Tourismus- und Wirtschaftsdaten Mallorca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468880"/>
            <a:ext cx="365760" cy="347472"/>
          </a:xfrm>
          <a:prstGeom prst="rect">
            <a:avLst/>
          </a:prstGeom>
          <a:solidFill>
            <a:srgbClr val="1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2496312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496312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F0F1"/>
                </a:solidFill>
                <a:latin typeface="Calibri"/>
              </a:rPr>
              <a:t>Aena (Spanische Flughafenbehörde): www.aena.es – Passagierdaten Flughafen Palma de Mallorca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926080"/>
            <a:ext cx="365760" cy="347472"/>
          </a:xfrm>
          <a:prstGeom prst="rect">
            <a:avLst/>
          </a:prstGeom>
          <a:solidFill>
            <a:srgbClr val="1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2953512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953512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F0F1"/>
                </a:solidFill>
                <a:latin typeface="Calibri"/>
              </a:rPr>
              <a:t>Umweltbundesamt: Tourismus und Umwelt – Wasserverbrauch, Abfallaufkommen im Tourismus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383280"/>
            <a:ext cx="365760" cy="347472"/>
          </a:xfrm>
          <a:prstGeom prst="rect">
            <a:avLst/>
          </a:prstGeom>
          <a:solidFill>
            <a:srgbClr val="1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3410712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410712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F0F1"/>
                </a:solidFill>
                <a:latin typeface="Calibri"/>
              </a:rPr>
              <a:t>Diario de Mallorca: www.diariodemallorca.es – Lokale Berichte, Proteste, Tourismuspolitik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840480"/>
            <a:ext cx="365760" cy="347472"/>
          </a:xfrm>
          <a:prstGeom prst="rect">
            <a:avLst/>
          </a:prstGeom>
          <a:solidFill>
            <a:srgbClr val="1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3867912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867912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F0F1"/>
                </a:solidFill>
                <a:latin typeface="Calibri"/>
              </a:rPr>
              <a:t>Govern Illes Balears: www.caib.es – Offizielle Daten, Tourismussteuer, Gesetzgebung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297680"/>
            <a:ext cx="365760" cy="347472"/>
          </a:xfrm>
          <a:prstGeom prst="rect">
            <a:avLst/>
          </a:prstGeom>
          <a:solidFill>
            <a:srgbClr val="1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4325112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325112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F0F1"/>
                </a:solidFill>
                <a:latin typeface="Calibri"/>
              </a:rPr>
              <a:t>Bundesagentur für Außenwirtschaft (GTAI): Wirtschaftsstruktur Balearen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754880"/>
            <a:ext cx="365760" cy="347472"/>
          </a:xfrm>
          <a:prstGeom prst="rect">
            <a:avLst/>
          </a:prstGeom>
          <a:solidFill>
            <a:srgbClr val="1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4782312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782312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F0F1"/>
                </a:solidFill>
                <a:latin typeface="Calibri"/>
              </a:rPr>
              <a:t>Tourismus-Analyse 2023, Stiftung für Zukunftsfragen – Reiseverhalten der Deutschen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5212080"/>
            <a:ext cx="365760" cy="347472"/>
          </a:xfrm>
          <a:prstGeom prst="rect">
            <a:avLst/>
          </a:prstGeom>
          <a:solidFill>
            <a:srgbClr val="1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5239512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239512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F0F1"/>
                </a:solidFill>
                <a:latin typeface="Calibri"/>
              </a:rPr>
              <a:t>El País / The Guardian: Berichterstattung Overtourism Mallorca 2024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5669280"/>
            <a:ext cx="365760" cy="347472"/>
          </a:xfrm>
          <a:prstGeom prst="rect">
            <a:avLst/>
          </a:prstGeom>
          <a:solidFill>
            <a:srgbClr val="1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5696712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696712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F0F1"/>
                </a:solidFill>
                <a:latin typeface="Calibri"/>
              </a:rPr>
              <a:t>Eigene Darstellungen und Zusammenfassungen nach o.g. Quellen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88952" cy="3657600"/>
          </a:xfrm>
          <a:prstGeom prst="rect">
            <a:avLst/>
          </a:prstGeom>
          <a:solidFill>
            <a:srgbClr val="1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A8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0" y="3154680"/>
            <a:ext cx="3959352" cy="91440"/>
          </a:xfrm>
          <a:prstGeom prst="rect">
            <a:avLst/>
          </a:prstGeom>
          <a:solidFill>
            <a:srgbClr val="E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37160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"/>
              </a:rPr>
              <a:t>Vielen Dank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51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A8D8EA"/>
                </a:solidFill>
                <a:latin typeface="Calibri"/>
              </a:rPr>
              <a:t>für eure Aufmerksamkeit!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4747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🌊  Mallorca – Ein touristisches Fallbeispiel  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2976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E6C8"/>
                </a:solidFill>
                <a:latin typeface="Calibri"/>
              </a:rPr>
              <a:t>Fragen &amp; Diskussion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